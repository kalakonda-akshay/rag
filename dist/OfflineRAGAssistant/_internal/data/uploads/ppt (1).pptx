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466AB9-A670-F7CF-B6E8-DFE142C4A96E}" v="1199" dt="2026-07-29T17:59:13.1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52" y="12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7984" y="2006599"/>
            <a:ext cx="11345227" cy="9121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7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12" Type="http://schemas.openxmlformats.org/officeDocument/2006/relationships/image" Target="../media/image16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jp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0" Type="http://schemas.openxmlformats.org/officeDocument/2006/relationships/image" Target="../media/image14.jpg"/><Relationship Id="rId4" Type="http://schemas.openxmlformats.org/officeDocument/2006/relationships/image" Target="../media/image8.jpg"/><Relationship Id="rId9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" y="0"/>
            <a:ext cx="18249900" cy="6172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68337" y="6731545"/>
            <a:ext cx="15504157" cy="2462021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sz="3200" spc="-55" dirty="0">
                <a:solidFill>
                  <a:srgbClr val="1F2729"/>
                </a:solidFill>
                <a:latin typeface="Arial MT"/>
                <a:cs typeface="Arial MT"/>
              </a:rPr>
              <a:t>Team</a:t>
            </a:r>
            <a:r>
              <a:rPr sz="3200" spc="-105" dirty="0">
                <a:solidFill>
                  <a:srgbClr val="1F27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729"/>
                </a:solidFill>
                <a:latin typeface="Arial MT"/>
                <a:cs typeface="Arial MT"/>
              </a:rPr>
              <a:t>Name</a:t>
            </a:r>
            <a:r>
              <a:rPr sz="3200" spc="-105" dirty="0">
                <a:solidFill>
                  <a:srgbClr val="1F2729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1F2729"/>
                </a:solidFill>
                <a:latin typeface="Arial MT"/>
                <a:cs typeface="Arial MT"/>
              </a:rPr>
              <a:t>:</a:t>
            </a:r>
            <a:r>
              <a:rPr lang="en-GB" sz="3200" spc="-50">
                <a:solidFill>
                  <a:srgbClr val="1F2729"/>
                </a:solidFill>
                <a:latin typeface="Arial MT"/>
                <a:cs typeface="Arial MT"/>
              </a:rPr>
              <a:t>  TEAM KANYARASHI</a:t>
            </a:r>
            <a:endParaRPr sz="3200">
              <a:latin typeface="Arial MT"/>
              <a:cs typeface="Arial MT"/>
            </a:endParaRPr>
          </a:p>
          <a:p>
            <a:pPr marL="80645" marR="5080" indent="-37465">
              <a:lnSpc>
                <a:spcPts val="7559"/>
              </a:lnSpc>
              <a:spcBef>
                <a:spcPts val="595"/>
              </a:spcBef>
            </a:pPr>
            <a:r>
              <a:rPr sz="3200" spc="-60" dirty="0">
                <a:solidFill>
                  <a:srgbClr val="1F2729"/>
                </a:solidFill>
                <a:latin typeface="Arial MT"/>
                <a:cs typeface="Arial MT"/>
              </a:rPr>
              <a:t>Team</a:t>
            </a:r>
            <a:r>
              <a:rPr sz="3200" spc="-120" dirty="0">
                <a:solidFill>
                  <a:srgbClr val="1F27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729"/>
                </a:solidFill>
                <a:latin typeface="Arial MT"/>
                <a:cs typeface="Arial MT"/>
              </a:rPr>
              <a:t>Leader</a:t>
            </a:r>
            <a:r>
              <a:rPr sz="3200" spc="-85" dirty="0">
                <a:solidFill>
                  <a:srgbClr val="1F27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729"/>
                </a:solidFill>
                <a:latin typeface="Arial MT"/>
                <a:cs typeface="Arial MT"/>
              </a:rPr>
              <a:t>Name</a:t>
            </a:r>
            <a:r>
              <a:rPr sz="3200" spc="-60" dirty="0">
                <a:solidFill>
                  <a:srgbClr val="1F2729"/>
                </a:solidFill>
                <a:latin typeface="Arial MT"/>
                <a:cs typeface="Arial MT"/>
              </a:rPr>
              <a:t> </a:t>
            </a:r>
            <a:r>
              <a:rPr sz="3200" spc="-50">
                <a:solidFill>
                  <a:srgbClr val="1F2729"/>
                </a:solidFill>
                <a:latin typeface="Arial MT"/>
                <a:cs typeface="Arial MT"/>
              </a:rPr>
              <a:t>:</a:t>
            </a:r>
            <a:r>
              <a:rPr lang="en-GB" sz="3200" spc="-50" dirty="0">
                <a:solidFill>
                  <a:srgbClr val="1F2729"/>
                </a:solidFill>
                <a:latin typeface="Arial MT"/>
                <a:cs typeface="Arial MT"/>
              </a:rPr>
              <a:t> </a:t>
            </a:r>
            <a:r>
              <a:rPr lang="en-GB" sz="3200" spc="-50">
                <a:solidFill>
                  <a:srgbClr val="1F2729"/>
                </a:solidFill>
                <a:latin typeface="Arial MT"/>
                <a:cs typeface="Arial MT"/>
              </a:rPr>
              <a:t>KALAKONDA AKSHAY</a:t>
            </a:r>
            <a:endParaRPr lang="en-GB" sz="3200">
              <a:solidFill>
                <a:srgbClr val="000000"/>
              </a:solidFill>
              <a:latin typeface="Arial MT"/>
              <a:cs typeface="Arial MT"/>
            </a:endParaRPr>
          </a:p>
          <a:p>
            <a:pPr marL="80645" marR="5080" indent="-37465">
              <a:lnSpc>
                <a:spcPts val="7559"/>
              </a:lnSpc>
              <a:spcBef>
                <a:spcPts val="595"/>
              </a:spcBef>
            </a:pPr>
            <a:r>
              <a:rPr lang="en-GB" sz="3200" spc="-50" dirty="0">
                <a:solidFill>
                  <a:srgbClr val="1F2729"/>
                </a:solidFill>
                <a:latin typeface="Arial MT"/>
                <a:cs typeface="Arial MT"/>
              </a:rPr>
              <a:t> </a:t>
            </a:r>
            <a:r>
              <a:rPr sz="3200" dirty="0">
                <a:solidFill>
                  <a:srgbClr val="1F2729"/>
                </a:solidFill>
                <a:latin typeface="Arial MT"/>
                <a:cs typeface="Arial MT"/>
              </a:rPr>
              <a:t>Problem</a:t>
            </a:r>
            <a:r>
              <a:rPr sz="3200" spc="-40" dirty="0">
                <a:solidFill>
                  <a:srgbClr val="1F2729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F2729"/>
                </a:solidFill>
                <a:latin typeface="Arial MT"/>
                <a:cs typeface="Arial MT"/>
              </a:rPr>
              <a:t>Statement</a:t>
            </a:r>
            <a:r>
              <a:rPr sz="3200" spc="-50">
                <a:solidFill>
                  <a:srgbClr val="1F2729"/>
                </a:solidFill>
                <a:latin typeface="Arial MT"/>
                <a:cs typeface="Arial MT"/>
              </a:rPr>
              <a:t> :</a:t>
            </a:r>
            <a:r>
              <a:rPr lang="en-US" sz="3200" spc="-50">
                <a:solidFill>
                  <a:srgbClr val="1F2729"/>
                </a:solidFill>
              </a:rPr>
              <a:t>Problem Statement 15 – The Cash-Only Shopkeeper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26609"/>
              </p:ext>
            </p:extLst>
          </p:nvPr>
        </p:nvGraphicFramePr>
        <p:xfrm>
          <a:off x="0" y="4229100"/>
          <a:ext cx="18243988" cy="1690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0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0370">
                <a:tc>
                  <a:txBody>
                    <a:bodyPr/>
                    <a:lstStyle/>
                    <a:p>
                      <a:pPr marL="31750">
                        <a:lnSpc>
                          <a:spcPts val="3065"/>
                        </a:lnSpc>
                      </a:pPr>
                      <a:r>
                        <a:rPr sz="2800" dirty="0">
                          <a:latin typeface="Bahnschrift Condensed" panose="020B0502040204020203" pitchFamily="34" charset="0"/>
                          <a:cs typeface="Arial MT"/>
                        </a:rPr>
                        <a:t>Team</a:t>
                      </a:r>
                      <a:r>
                        <a:rPr sz="2800" spc="-160" dirty="0">
                          <a:latin typeface="Bahnschrift Condensed" panose="020B0502040204020203" pitchFamily="34" charset="0"/>
                          <a:cs typeface="Arial MT"/>
                        </a:rPr>
                        <a:t> </a:t>
                      </a:r>
                      <a:r>
                        <a:rPr sz="2800" spc="-10" dirty="0">
                          <a:latin typeface="Bahnschrift Condensed" panose="020B0502040204020203" pitchFamily="34" charset="0"/>
                          <a:cs typeface="Arial MT"/>
                        </a:rPr>
                        <a:t>Leader:</a:t>
                      </a:r>
                      <a:r>
                        <a:rPr lang="en-GB" sz="2750" spc="-10" dirty="0">
                          <a:latin typeface="Bahnschrift Condensed" panose="020B0502040204020203" pitchFamily="34" charset="0"/>
                          <a:cs typeface="Arial MT"/>
                        </a:rPr>
                        <a:t>  </a:t>
                      </a:r>
                      <a:r>
                        <a:rPr lang="en-GB" sz="3200" b="1" i="0" u="none" strike="noStrike" spc="-10" noProof="0" dirty="0">
                          <a:solidFill>
                            <a:srgbClr val="1F2729"/>
                          </a:solidFill>
                          <a:latin typeface="Bahnschrift Condensed" panose="020B0502040204020203" pitchFamily="34" charset="0"/>
                        </a:rPr>
                        <a:t>KALAKONDA AKSHAY</a:t>
                      </a:r>
                      <a:endParaRPr sz="2750" b="1" dirty="0">
                        <a:latin typeface="Bahnschrift Condensed" panose="020B0502040204020203" pitchFamily="34" charset="0"/>
                        <a:cs typeface="Arial MT"/>
                      </a:endParaRPr>
                    </a:p>
                    <a:p>
                      <a:pPr marL="31750" marR="3398520">
                        <a:lnSpc>
                          <a:spcPct val="102400"/>
                        </a:lnSpc>
                      </a:pPr>
                      <a:r>
                        <a:rPr sz="3200" spc="-10" dirty="0">
                          <a:latin typeface="Bahnschrift Condensed" panose="020B0502040204020203" pitchFamily="34" charset="0"/>
                          <a:cs typeface="Arial MT"/>
                        </a:rPr>
                        <a:t>Name: College:</a:t>
                      </a:r>
                      <a:r>
                        <a:rPr lang="en-GB" sz="3200" b="1" i="0" u="none" strike="noStrike" spc="-10" noProof="0" dirty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cs typeface="Segoe UI"/>
                        </a:rPr>
                        <a:t>Amrita Vishwa Vidyapeetham</a:t>
                      </a:r>
                      <a:r>
                        <a:rPr lang="en-US" sz="3200" b="1" spc="-10" dirty="0">
                          <a:latin typeface="Bahnschrift Condensed" panose="020B0502040204020203" pitchFamily="34" charset="0"/>
                          <a:cs typeface="Arial MT"/>
                        </a:rPr>
                        <a:t>        </a:t>
                      </a:r>
                      <a:r>
                        <a:rPr lang="en-US" sz="2800" spc="-10" dirty="0">
                          <a:latin typeface="Bahnschrift Condensed" panose="020B0502040204020203" pitchFamily="34" charset="0"/>
                          <a:cs typeface="Arial MT"/>
                        </a:rPr>
                        <a:t>                                                        </a:t>
                      </a:r>
                      <a:endParaRPr sz="2800" dirty="0">
                        <a:latin typeface="Bahnschrift Condensed" panose="020B0502040204020203" pitchFamily="34" charset="0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0475" algn="l">
                        <a:lnSpc>
                          <a:spcPts val="3065"/>
                        </a:lnSpc>
                      </a:pPr>
                      <a:r>
                        <a:rPr sz="2800" dirty="0">
                          <a:latin typeface="Bahnschrift Condensed" panose="020B0502040204020203" pitchFamily="34" charset="0"/>
                          <a:cs typeface="Arial MT"/>
                        </a:rPr>
                        <a:t>Team</a:t>
                      </a:r>
                      <a:r>
                        <a:rPr sz="2800" spc="65" dirty="0">
                          <a:latin typeface="Bahnschrift Condensed" panose="020B0502040204020203" pitchFamily="34" charset="0"/>
                          <a:cs typeface="Arial MT"/>
                        </a:rPr>
                        <a:t> </a:t>
                      </a:r>
                      <a:r>
                        <a:rPr sz="2800" dirty="0">
                          <a:latin typeface="Bahnschrift Condensed" panose="020B0502040204020203" pitchFamily="34" charset="0"/>
                          <a:cs typeface="Arial MT"/>
                        </a:rPr>
                        <a:t>Member-</a:t>
                      </a:r>
                      <a:r>
                        <a:rPr sz="2800" spc="-25" dirty="0">
                          <a:latin typeface="Bahnschrift Condensed" panose="020B0502040204020203" pitchFamily="34" charset="0"/>
                          <a:cs typeface="Arial MT"/>
                        </a:rPr>
                        <a:t>1:</a:t>
                      </a:r>
                      <a:r>
                        <a:rPr lang="en-GB" sz="2800" spc="-25" dirty="0">
                          <a:latin typeface="Bahnschrift Condensed" panose="020B0502040204020203" pitchFamily="34" charset="0"/>
                          <a:cs typeface="Arial MT"/>
                        </a:rPr>
                        <a:t> </a:t>
                      </a:r>
                      <a:r>
                        <a:rPr lang="en-GB" sz="3200" b="1" spc="-25" dirty="0">
                          <a:latin typeface="Bahnschrift Condensed" panose="020B0502040204020203" pitchFamily="34" charset="0"/>
                          <a:cs typeface="Arial MT"/>
                        </a:rPr>
                        <a:t>Polla Srujan Kumar</a:t>
                      </a:r>
                      <a:r>
                        <a:rPr lang="en-US" sz="3600" b="1" i="0" u="none" strike="noStrike" spc="-10" noProof="0" dirty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cs typeface="Segoe UI"/>
                        </a:rPr>
                        <a:t>  </a:t>
                      </a:r>
                      <a:r>
                        <a:rPr lang="en-US" sz="3200" b="1" i="0" u="none" strike="noStrike" spc="-10" noProof="0" dirty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cs typeface="Segoe UI"/>
                        </a:rPr>
                        <a:t>                 </a:t>
                      </a:r>
                      <a:r>
                        <a:rPr lang="en-US" sz="3200" b="0" i="0" u="none" strike="noStrike" spc="-10" noProof="0" dirty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cs typeface="Segoe UI"/>
                        </a:rPr>
                        <a:t>Name: College:</a:t>
                      </a:r>
                      <a:r>
                        <a:rPr lang="en-GB" sz="3200" b="0" i="0" u="none" strike="noStrike" spc="-10" noProof="0" dirty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cs typeface="Segoe UI"/>
                        </a:rPr>
                        <a:t> </a:t>
                      </a:r>
                      <a:r>
                        <a:rPr lang="en-GB" sz="3200" b="1" i="0" u="none" strike="noStrike" spc="-10" noProof="0" dirty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  <a:cs typeface="Segoe UI"/>
                        </a:rPr>
                        <a:t>Amrita Vishwa Vidyapeetham</a:t>
                      </a:r>
                      <a:endParaRPr lang="en-US" sz="3200" b="1" i="0" u="none" strike="noStrike" spc="-10" noProof="0" dirty="0">
                        <a:solidFill>
                          <a:srgbClr val="000000"/>
                        </a:solidFill>
                        <a:latin typeface="Bahnschrift Condensed" panose="020B0502040204020203" pitchFamily="34" charset="0"/>
                        <a:cs typeface="Segoe UI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225"/>
                        </a:spcBef>
                        <a:buNone/>
                      </a:pPr>
                      <a:endParaRPr lang="en-GB" sz="2750" spc="-10" dirty="0">
                        <a:latin typeface="Bahnschrift Condensed" panose="020B0502040204020203" pitchFamily="34" charset="0"/>
                      </a:endParaRPr>
                    </a:p>
                    <a:p>
                      <a:pPr lvl="0">
                        <a:lnSpc>
                          <a:spcPct val="100000"/>
                        </a:lnSpc>
                        <a:spcBef>
                          <a:spcPts val="225"/>
                        </a:spcBef>
                        <a:buNone/>
                      </a:pPr>
                      <a:r>
                        <a:rPr lang="en-GB" sz="2800" b="0" i="0" u="none" strike="noStrike" spc="-10" noProof="0" dirty="0">
                          <a:solidFill>
                            <a:srgbClr val="000000"/>
                          </a:solidFill>
                          <a:latin typeface="Bahnschrift Condensed" panose="020B0502040204020203" pitchFamily="34" charset="0"/>
                        </a:rPr>
                        <a:t>                           </a:t>
                      </a:r>
                      <a:endParaRPr lang="en-GB" dirty="0">
                        <a:latin typeface="Bahnschrift Condensed" panose="020B0502040204020203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704330">
              <a:lnSpc>
                <a:spcPct val="100000"/>
              </a:lnSpc>
              <a:spcBef>
                <a:spcPts val="130"/>
              </a:spcBef>
            </a:pPr>
            <a:r>
              <a:rPr sz="4100" spc="-450" dirty="0"/>
              <a:t>T</a:t>
            </a:r>
            <a:r>
              <a:rPr sz="4100" spc="70" dirty="0"/>
              <a:t>e</a:t>
            </a:r>
            <a:r>
              <a:rPr sz="4100" spc="-5" dirty="0"/>
              <a:t>a</a:t>
            </a:r>
            <a:r>
              <a:rPr sz="4100" spc="45" dirty="0"/>
              <a:t>m</a:t>
            </a:r>
            <a:r>
              <a:rPr sz="4100" spc="-185" dirty="0"/>
              <a:t> </a:t>
            </a:r>
            <a:r>
              <a:rPr sz="4100" spc="-10" dirty="0"/>
              <a:t>Members</a:t>
            </a:r>
            <a:endParaRPr sz="41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6192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13812" y="1625599"/>
            <a:ext cx="17756913" cy="8376266"/>
          </a:xfrm>
          <a:prstGeom prst="rect">
            <a:avLst/>
          </a:prstGeom>
        </p:spPr>
        <p:txBody>
          <a:bodyPr vert="horz" wrap="square" lIns="0" tIns="266318" rIns="0" bIns="0" rtlCol="0" anchor="t">
            <a:spAutoFit/>
          </a:bodyPr>
          <a:lstStyle/>
          <a:p>
            <a:pPr algn="l"/>
            <a:r>
              <a:rPr lang="en-GB" sz="2400" b="1" dirty="0"/>
              <a:t>Opportunity</a:t>
            </a:r>
            <a:r>
              <a:rPr lang="en-GB" sz="2400" b="1" spc="95"/>
              <a:t> :</a:t>
            </a:r>
            <a:br>
              <a:rPr lang="en-GB" sz="1800" spc="95" dirty="0"/>
            </a:br>
            <a:br>
              <a:rPr lang="en-GB" sz="1800" spc="95" dirty="0"/>
            </a:br>
            <a:r>
              <a:rPr lang="en-GB" sz="2400" b="1"/>
              <a:t>Current Problem :</a:t>
            </a:r>
            <a:endParaRPr lang="en-US"/>
          </a:p>
          <a:p>
            <a:pPr algn="l"/>
            <a:r>
              <a:rPr lang="en-GB" sz="2000" spc="95"/>
              <a:t>Rural shopkeepers want digital tools but find existing solutions complex and difficult to use.</a:t>
            </a:r>
          </a:p>
          <a:p>
            <a:pPr algn="l"/>
            <a:r>
              <a:rPr lang="en-GB" sz="2400" b="1"/>
              <a:t>Target Users :</a:t>
            </a:r>
          </a:p>
          <a:p>
            <a:pPr algn="l"/>
            <a:r>
              <a:rPr lang="en-GB" sz="2000" spc="95"/>
              <a:t>Kirana stores, street vendors, tea stalls, and small businesses in rural &amp; Tier 2/3/4 areas.</a:t>
            </a:r>
            <a:endParaRPr lang="en-GB" sz="2000"/>
          </a:p>
          <a:p>
            <a:pPr algn="l"/>
            <a:r>
              <a:rPr lang="en-GB" sz="2400" b="1"/>
              <a:t>Pain Points :</a:t>
            </a:r>
          </a:p>
          <a:p>
            <a:pPr algn="l"/>
            <a:r>
              <a:rPr lang="en-GB" sz="2000" spc="95"/>
              <a:t>Limited digital payment adoption </a:t>
            </a:r>
            <a:endParaRPr lang="en-GB" sz="2000"/>
          </a:p>
          <a:p>
            <a:pPr algn="l"/>
            <a:r>
              <a:rPr lang="en-GB" sz="2000" spc="95"/>
              <a:t>Poor income &amp; expense tracking </a:t>
            </a:r>
            <a:endParaRPr lang="en-GB" sz="2000"/>
          </a:p>
          <a:p>
            <a:pPr algn="l"/>
            <a:r>
              <a:rPr lang="en-GB" sz="2000" spc="95"/>
              <a:t>Manual inventory management </a:t>
            </a:r>
            <a:endParaRPr lang="en-GB" sz="2000"/>
          </a:p>
          <a:p>
            <a:pPr algn="l"/>
            <a:r>
              <a:rPr lang="en-GB" sz="2000" spc="95"/>
              <a:t>Limited access to loans </a:t>
            </a:r>
            <a:endParaRPr lang="en-GB" sz="2000"/>
          </a:p>
          <a:p>
            <a:pPr algn="l"/>
            <a:r>
              <a:rPr lang="en-GB" sz="2000" spc="95"/>
              <a:t>Low financial literacy </a:t>
            </a:r>
            <a:endParaRPr lang="en-GB" sz="2000"/>
          </a:p>
          <a:p>
            <a:pPr algn="l"/>
            <a:r>
              <a:rPr lang="en-GB" sz="2400" b="1"/>
              <a:t>Why Existing Solutions Fail :</a:t>
            </a:r>
            <a:endParaRPr lang="en-GB" sz="2400"/>
          </a:p>
          <a:p>
            <a:pPr algn="l"/>
            <a:r>
              <a:rPr lang="en-GB" sz="2000" spc="95"/>
              <a:t>Complex interfaces </a:t>
            </a:r>
            <a:endParaRPr lang="en-GB" sz="2000"/>
          </a:p>
          <a:p>
            <a:pPr algn="l"/>
            <a:r>
              <a:rPr lang="en-GB" sz="2000" spc="95"/>
              <a:t>Weak offline support </a:t>
            </a:r>
            <a:endParaRPr lang="en-GB" sz="2000"/>
          </a:p>
          <a:p>
            <a:pPr algn="l"/>
            <a:r>
              <a:rPr lang="en-GB" sz="2000" spc="95"/>
              <a:t>No AI-based financial guidance </a:t>
            </a:r>
            <a:endParaRPr lang="en-GB" sz="2000"/>
          </a:p>
          <a:p>
            <a:pPr algn="l"/>
            <a:r>
              <a:rPr lang="en-GB" sz="2000" spc="95"/>
              <a:t>No credit-building for small businesses </a:t>
            </a:r>
            <a:endParaRPr lang="en-GB" sz="2000"/>
          </a:p>
          <a:p>
            <a:pPr algn="l"/>
            <a:r>
              <a:rPr lang="en-GB" sz="2400" b="1"/>
              <a:t>Market Opportunity :</a:t>
            </a:r>
            <a:endParaRPr lang="en-GB" sz="2400"/>
          </a:p>
          <a:p>
            <a:pPr algn="l"/>
            <a:r>
              <a:rPr lang="en-GB" sz="2000" spc="95"/>
              <a:t>63M+ MSMEs in India need simple AI-powered financial solutions</a:t>
            </a:r>
            <a:r>
              <a:rPr lang="en-GB" sz="1800" spc="95"/>
              <a:t>.</a:t>
            </a:r>
            <a:endParaRPr lang="en-GB" sz="1800"/>
          </a:p>
          <a:p>
            <a:pPr algn="l"/>
            <a:r>
              <a:rPr lang="en-GB" sz="2400" b="1"/>
              <a:t>Expected Impact :</a:t>
            </a:r>
            <a:endParaRPr lang="en-GB" sz="2400"/>
          </a:p>
          <a:p>
            <a:pPr algn="l"/>
            <a:r>
              <a:rPr lang="en-GB" sz="2000" spc="95"/>
              <a:t>Digital adoption • Better financial management • Easy credit access • Business growth</a:t>
            </a:r>
            <a:endParaRPr lang="en-GB" sz="2000"/>
          </a:p>
          <a:p>
            <a:pPr algn="l"/>
            <a:r>
              <a:rPr lang="en-GB" sz="2400" b="1"/>
              <a:t>Government Relevance :</a:t>
            </a:r>
            <a:endParaRPr lang="en-GB" sz="2400"/>
          </a:p>
          <a:p>
            <a:pPr algn="l"/>
            <a:r>
              <a:rPr lang="en-GB" sz="2000" spc="95"/>
              <a:t>Supports </a:t>
            </a:r>
            <a:r>
              <a:rPr lang="en-GB" sz="2000" b="1" spc="95"/>
              <a:t>Digital India</a:t>
            </a:r>
            <a:r>
              <a:rPr lang="en-GB" sz="2000" spc="95"/>
              <a:t>, </a:t>
            </a:r>
            <a:r>
              <a:rPr lang="en-GB" sz="2000" b="1" spc="95"/>
              <a:t>Startup India</a:t>
            </a:r>
            <a:r>
              <a:rPr lang="en-GB" sz="2000" spc="95"/>
              <a:t>, </a:t>
            </a:r>
            <a:r>
              <a:rPr lang="en-GB" sz="2000" b="1" spc="95"/>
              <a:t>Financial Inclusion</a:t>
            </a:r>
            <a:r>
              <a:rPr lang="en-GB" sz="2000" spc="95"/>
              <a:t>, and </a:t>
            </a:r>
            <a:r>
              <a:rPr lang="en-GB" sz="2000" b="1" spc="95"/>
              <a:t>Viksit Bharat 2047</a:t>
            </a:r>
            <a:r>
              <a:rPr lang="en-GB" sz="2000" spc="95"/>
              <a:t>.</a:t>
            </a:r>
          </a:p>
          <a:p>
            <a:pPr algn="l"/>
            <a:endParaRPr lang="en-GB" sz="1800" spc="95" dirty="0"/>
          </a:p>
          <a:p>
            <a:pPr marL="616585">
              <a:spcBef>
                <a:spcPts val="130"/>
              </a:spcBef>
            </a:pPr>
            <a:endParaRPr lang="en-GB" sz="1800"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7984" y="2006599"/>
            <a:ext cx="17865770" cy="5921172"/>
          </a:xfrm>
          <a:prstGeom prst="rect">
            <a:avLst/>
          </a:prstGeom>
        </p:spPr>
        <p:txBody>
          <a:bodyPr vert="horz" wrap="square" lIns="0" tIns="410527" rIns="0" bIns="0" rtlCol="0" anchor="t">
            <a:spAutoFit/>
          </a:bodyPr>
          <a:lstStyle/>
          <a:p>
            <a:pPr algn="l"/>
            <a:r>
              <a:rPr sz="4000" b="1" dirty="0"/>
              <a:t>List</a:t>
            </a:r>
            <a:r>
              <a:rPr sz="4000" b="1" spc="-105" dirty="0"/>
              <a:t> </a:t>
            </a:r>
            <a:r>
              <a:rPr sz="4000" b="1" dirty="0"/>
              <a:t>of</a:t>
            </a:r>
            <a:r>
              <a:rPr sz="4000" b="1" spc="-25" dirty="0"/>
              <a:t> </a:t>
            </a:r>
            <a:r>
              <a:rPr sz="4000" b="1" dirty="0"/>
              <a:t>features</a:t>
            </a:r>
            <a:r>
              <a:rPr sz="4000" b="1" spc="-60" dirty="0"/>
              <a:t> </a:t>
            </a:r>
            <a:r>
              <a:rPr sz="4000" b="1" dirty="0"/>
              <a:t>offered</a:t>
            </a:r>
            <a:r>
              <a:rPr sz="4000" b="1" spc="-35" dirty="0"/>
              <a:t> </a:t>
            </a:r>
            <a:r>
              <a:rPr sz="4000" b="1" dirty="0"/>
              <a:t>by the</a:t>
            </a:r>
            <a:r>
              <a:rPr sz="4000" b="1" spc="-30" dirty="0"/>
              <a:t> </a:t>
            </a:r>
            <a:r>
              <a:rPr sz="4000" b="1" spc="-10" dirty="0"/>
              <a:t>solution:</a:t>
            </a:r>
            <a:br>
              <a:rPr lang="en-GB" spc="-10" dirty="0"/>
            </a:br>
            <a:r>
              <a:rPr lang="en-US" sz="2400" b="1" spc="-10" dirty="0"/>
              <a:t> </a:t>
            </a:r>
            <a:br>
              <a:rPr lang="en-US" sz="2400" b="1" spc="-10" dirty="0"/>
            </a:br>
            <a:r>
              <a:rPr lang="en-US" sz="2800" spc="-10"/>
              <a:t>1.</a:t>
            </a:r>
            <a:r>
              <a:rPr lang="en-US" sz="2800" b="1" spc="-10"/>
              <a:t>  Voice-Based Ledger</a:t>
            </a:r>
            <a:r>
              <a:rPr lang="en-US" sz="2800" spc="-10" dirty="0"/>
              <a:t> – Record transactions using voice in local language. </a:t>
            </a:r>
          </a:p>
          <a:p>
            <a:pPr algn="l">
              <a:spcBef>
                <a:spcPts val="125"/>
              </a:spcBef>
            </a:pPr>
            <a:r>
              <a:rPr lang="en-US" sz="2800" spc="-10"/>
              <a:t>2.  </a:t>
            </a:r>
            <a:r>
              <a:rPr lang="en-US" sz="2800" b="1" spc="-10"/>
              <a:t>Smart UPI QR Payments</a:t>
            </a:r>
            <a:r>
              <a:rPr lang="en-US" sz="2800" spc="-10"/>
              <a:t> – Accept instant digital payments with QR codes. </a:t>
            </a:r>
            <a:endParaRPr lang="en-GB" sz="2800"/>
          </a:p>
          <a:p>
            <a:pPr algn="l">
              <a:spcBef>
                <a:spcPts val="125"/>
              </a:spcBef>
            </a:pPr>
            <a:r>
              <a:rPr lang="en-US" sz="2800" spc="-10" dirty="0"/>
              <a:t>3.  </a:t>
            </a:r>
            <a:r>
              <a:rPr lang="en-US" sz="2800" b="1" spc="-10" dirty="0"/>
              <a:t>AI </a:t>
            </a:r>
            <a:r>
              <a:rPr lang="en-US" sz="2800" b="1" spc="-10" dirty="0" err="1"/>
              <a:t>Vyapar</a:t>
            </a:r>
            <a:r>
              <a:rPr lang="en-US" sz="2800" b="1" spc="-10" dirty="0"/>
              <a:t> Score</a:t>
            </a:r>
            <a:r>
              <a:rPr lang="en-US" sz="2800" spc="-10" dirty="0"/>
              <a:t> – AI-generated business credit score for loan eligibility. </a:t>
            </a:r>
            <a:endParaRPr lang="en-GB" sz="2800"/>
          </a:p>
          <a:p>
            <a:pPr algn="l">
              <a:spcBef>
                <a:spcPts val="125"/>
              </a:spcBef>
            </a:pPr>
            <a:r>
              <a:rPr lang="en-US" sz="2800" spc="-10" dirty="0"/>
              <a:t>4.  </a:t>
            </a:r>
            <a:r>
              <a:rPr lang="en-US" sz="2800" b="1" spc="-10" dirty="0"/>
              <a:t>Expense &amp; Profit Tracker</a:t>
            </a:r>
            <a:r>
              <a:rPr lang="en-US" sz="2800" spc="-10" dirty="0"/>
              <a:t> – Automatically track income, expenses, and profits. </a:t>
            </a:r>
            <a:br>
              <a:rPr lang="en-US" sz="2800" spc="-10" dirty="0"/>
            </a:br>
            <a:r>
              <a:rPr lang="en-US" sz="2800" spc="-10"/>
              <a:t>5.  </a:t>
            </a:r>
            <a:r>
              <a:rPr lang="en-US" sz="2800" b="1" spc="-10"/>
              <a:t>Inventory Management</a:t>
            </a:r>
            <a:r>
              <a:rPr lang="en-US" sz="2800" spc="-10" dirty="0"/>
              <a:t> – Smart stock tracking with low-stock alerts. </a:t>
            </a:r>
            <a:endParaRPr lang="en-GB" sz="2800"/>
          </a:p>
          <a:p>
            <a:pPr algn="l">
              <a:spcBef>
                <a:spcPts val="125"/>
              </a:spcBef>
            </a:pPr>
            <a:r>
              <a:rPr lang="en-US" sz="2800" spc="-10"/>
              <a:t>6.  </a:t>
            </a:r>
            <a:r>
              <a:rPr lang="en-US" sz="2800" b="1" spc="-10" dirty="0"/>
              <a:t>Offline Mode</a:t>
            </a:r>
            <a:r>
              <a:rPr lang="en-US" sz="2800" spc="-10" dirty="0"/>
              <a:t> – Works without internet and syncs automatically. </a:t>
            </a:r>
            <a:endParaRPr lang="en-GB" sz="2800"/>
          </a:p>
          <a:p>
            <a:pPr algn="l">
              <a:spcBef>
                <a:spcPts val="125"/>
              </a:spcBef>
            </a:pPr>
            <a:r>
              <a:rPr lang="en-US" sz="2800" spc="-10"/>
              <a:t>7.</a:t>
            </a:r>
            <a:r>
              <a:rPr lang="en-US" sz="2800" b="1" spc="-10"/>
              <a:t>  Business Dashboard</a:t>
            </a:r>
            <a:r>
              <a:rPr lang="en-US" sz="2800" spc="-10" dirty="0"/>
              <a:t> – Easy-to-understand reports and business insights. </a:t>
            </a:r>
            <a:endParaRPr lang="en-GB" sz="2800"/>
          </a:p>
          <a:p>
            <a:pPr algn="l">
              <a:spcBef>
                <a:spcPts val="125"/>
              </a:spcBef>
            </a:pPr>
            <a:r>
              <a:rPr lang="en-US" sz="2800" spc="-10"/>
              <a:t>8.  </a:t>
            </a:r>
            <a:r>
              <a:rPr lang="en-US" sz="2800" b="1" spc="-10"/>
              <a:t>Loan &amp; Insurance Support</a:t>
            </a:r>
            <a:r>
              <a:rPr lang="en-US" sz="2800" spc="-10" dirty="0"/>
              <a:t> – Personalized loan, insurance, and government scheme</a:t>
            </a:r>
            <a:endParaRPr lang="en-GB" sz="2800"/>
          </a:p>
          <a:p>
            <a:pPr marL="93980">
              <a:spcBef>
                <a:spcPts val="125"/>
              </a:spcBef>
            </a:pPr>
            <a:br>
              <a:rPr lang="en-GB" spc="-10" dirty="0"/>
            </a:br>
            <a:endParaRPr lang="en-US" spc="-10"/>
          </a:p>
        </p:txBody>
      </p:sp>
      <p:sp>
        <p:nvSpPr>
          <p:cNvPr id="3" name="object 3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619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1D3AAD-2186-C5A2-C46C-5CDCE3031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556" r="-91" b="53"/>
          <a:stretch>
            <a:fillRect/>
          </a:stretch>
        </p:blipFill>
        <p:spPr>
          <a:xfrm>
            <a:off x="97972" y="1813107"/>
            <a:ext cx="18228340" cy="8495871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4069" y="1516742"/>
            <a:ext cx="11345227" cy="1605182"/>
          </a:xfrm>
          <a:prstGeom prst="rect">
            <a:avLst/>
          </a:prstGeom>
        </p:spPr>
        <p:txBody>
          <a:bodyPr vert="horz" wrap="square" lIns="0" tIns="126618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b="1" dirty="0"/>
              <a:t>Process</a:t>
            </a:r>
            <a:r>
              <a:rPr b="1" spc="-40" dirty="0"/>
              <a:t> </a:t>
            </a:r>
            <a:r>
              <a:rPr b="1" dirty="0"/>
              <a:t>flow</a:t>
            </a:r>
            <a:r>
              <a:rPr b="1" spc="-5" dirty="0"/>
              <a:t> </a:t>
            </a:r>
            <a:r>
              <a:rPr b="1" dirty="0"/>
              <a:t>diagram</a:t>
            </a:r>
            <a:r>
              <a:rPr b="1" spc="-55" dirty="0"/>
              <a:t> </a:t>
            </a:r>
            <a:r>
              <a:rPr b="1" dirty="0"/>
              <a:t>or</a:t>
            </a:r>
            <a:r>
              <a:rPr b="1" spc="-15" dirty="0"/>
              <a:t> </a:t>
            </a:r>
            <a:r>
              <a:rPr b="1" spc="-25" dirty="0"/>
              <a:t>Use-</a:t>
            </a:r>
            <a:r>
              <a:rPr b="1" dirty="0"/>
              <a:t>case</a:t>
            </a:r>
            <a:r>
              <a:rPr b="1" spc="-5" dirty="0"/>
              <a:t> </a:t>
            </a:r>
            <a:r>
              <a:rPr b="1" spc="-10"/>
              <a:t>diagram:</a:t>
            </a:r>
            <a:br>
              <a:rPr lang="en-GB" spc="-10" dirty="0"/>
            </a:br>
            <a:br>
              <a:rPr lang="en-GB" spc="-10" dirty="0"/>
            </a:br>
            <a:endParaRPr lang="en-US" spc="-1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411372-20E3-02E3-8818-03AC6E9EA1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41" t="12237" r="441" b="3158"/>
          <a:stretch>
            <a:fillRect/>
          </a:stretch>
        </p:blipFill>
        <p:spPr>
          <a:xfrm>
            <a:off x="1230085" y="1943102"/>
            <a:ext cx="15642783" cy="766355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308702" y="1396999"/>
            <a:ext cx="9516427" cy="1174104"/>
          </a:xfrm>
          <a:prstGeom prst="rect">
            <a:avLst/>
          </a:prstGeom>
        </p:spPr>
        <p:txBody>
          <a:bodyPr vert="horz" wrap="square" lIns="0" tIns="187389" rIns="0" bIns="0" rtlCol="0" anchor="t">
            <a:spAutoFit/>
          </a:bodyPr>
          <a:lstStyle/>
          <a:p>
            <a:pPr marL="367665" algn="l">
              <a:spcBef>
                <a:spcPts val="125"/>
              </a:spcBef>
            </a:pPr>
            <a:r>
              <a:rPr b="1" dirty="0"/>
              <a:t>Architecture</a:t>
            </a:r>
            <a:r>
              <a:rPr b="1" spc="-60" dirty="0"/>
              <a:t> </a:t>
            </a:r>
            <a:r>
              <a:rPr b="1" dirty="0"/>
              <a:t>diagram</a:t>
            </a:r>
            <a:r>
              <a:rPr b="1" spc="-30" dirty="0"/>
              <a:t> </a:t>
            </a:r>
            <a:r>
              <a:rPr b="1" dirty="0"/>
              <a:t>of</a:t>
            </a:r>
            <a:r>
              <a:rPr b="1" spc="-60" dirty="0"/>
              <a:t> </a:t>
            </a:r>
            <a:r>
              <a:rPr b="1" dirty="0"/>
              <a:t>the</a:t>
            </a:r>
            <a:r>
              <a:rPr b="1" spc="-40" dirty="0"/>
              <a:t> </a:t>
            </a:r>
            <a:r>
              <a:rPr b="1" dirty="0"/>
              <a:t>proposed</a:t>
            </a:r>
            <a:r>
              <a:rPr b="1" spc="30" dirty="0"/>
              <a:t> </a:t>
            </a:r>
            <a:r>
              <a:rPr b="1" spc="-10"/>
              <a:t>solution</a:t>
            </a:r>
            <a:br>
              <a:rPr lang="en-GB" b="1" spc="-10" dirty="0"/>
            </a:br>
            <a:endParaRPr lang="en-US" b="1" spc="-10"/>
          </a:p>
        </p:txBody>
      </p:sp>
      <p:sp>
        <p:nvSpPr>
          <p:cNvPr id="3" name="object 3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3543"/>
            <a:ext cx="18288000" cy="1619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6FD46B-246A-2B45-1D55-D11F0EB4F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9173" y="1709059"/>
            <a:ext cx="10110205" cy="84799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971AA1-9E19-F3A7-3F35-E23E769C7CA6}"/>
              </a:ext>
            </a:extLst>
          </p:cNvPr>
          <p:cNvSpPr txBox="1"/>
          <p:nvPr/>
        </p:nvSpPr>
        <p:spPr>
          <a:xfrm>
            <a:off x="8864609" y="2103940"/>
            <a:ext cx="10110189" cy="80945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b="1"/>
              <a:t>Block Explanations</a:t>
            </a:r>
            <a:br>
              <a:rPr lang="en-GB" sz="2000" b="1" dirty="0"/>
            </a:br>
            <a:endParaRPr lang="en-US" sz="2000"/>
          </a:p>
          <a:p>
            <a:pPr marL="342900" indent="-342900" algn="l">
              <a:buChar char="•"/>
            </a:pPr>
            <a:r>
              <a:rPr lang="en-GB" sz="2400" b="1"/>
              <a:t>Mobile App:</a:t>
            </a:r>
            <a:r>
              <a:rPr lang="en-GB" sz="2400"/>
              <a:t> Cross-platform, low-end device optimized, voice-first UI.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/>
              <a:t>API Gateway:</a:t>
            </a:r>
            <a:r>
              <a:rPr lang="en-GB" sz="2400"/>
              <a:t> Secures and routes all requests, handles rate limiting.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/>
              <a:t>Authentication:</a:t>
            </a:r>
            <a:r>
              <a:rPr lang="en-GB" sz="2400"/>
              <a:t> Aadhaar e-KYC + OTP for compliant, secure identity verification.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 dirty="0"/>
              <a:t>AI Engine:</a:t>
            </a:r>
            <a:r>
              <a:rPr lang="en-GB" sz="2400" dirty="0"/>
              <a:t> Uses </a:t>
            </a:r>
            <a:r>
              <a:rPr lang="en-GB" sz="2400" b="1" dirty="0"/>
              <a:t>Bhashini API</a:t>
            </a:r>
            <a:r>
              <a:rPr lang="en-GB" sz="2400" dirty="0"/>
              <a:t> (speech-to-text for Indian languages) + NLP model to convert voice into structured data; ML model computes </a:t>
            </a:r>
            <a:r>
              <a:rPr lang="en-GB" sz="2400" dirty="0" err="1"/>
              <a:t>Vyapar</a:t>
            </a:r>
            <a:r>
              <a:rPr lang="en-GB" sz="2400" dirty="0"/>
              <a:t> Score.</a:t>
            </a:r>
          </a:p>
          <a:p>
            <a:pPr marL="342900" indent="-342900" algn="l">
              <a:buChar char="•"/>
            </a:pPr>
            <a:r>
              <a:rPr lang="en-GB" sz="2400" b="1"/>
              <a:t>Business Logic Layer:</a:t>
            </a:r>
            <a:r>
              <a:rPr lang="en-GB" sz="2400"/>
              <a:t> Microservices handle ledger, inventory, and loan workflows independently for scalability.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/>
              <a:t>Payment Gateway:</a:t>
            </a:r>
            <a:r>
              <a:rPr lang="en-GB" sz="2400"/>
              <a:t> Integrates </a:t>
            </a:r>
            <a:r>
              <a:rPr lang="en-GB" sz="2400" b="1"/>
              <a:t>NPCI UPI API</a:t>
            </a:r>
            <a:r>
              <a:rPr lang="en-GB" sz="2400"/>
              <a:t> and payment aggregators for instant settlement.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/>
              <a:t>Database:</a:t>
            </a:r>
            <a:r>
              <a:rPr lang="en-GB" sz="2400"/>
              <a:t> PostgreSQL for transactional data, Redis for speed, SQLite for offline-first devices.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/>
              <a:t>Analytics Engine:</a:t>
            </a:r>
            <a:r>
              <a:rPr lang="en-GB" sz="2400"/>
              <a:t> Detects spending patterns, flags anomalies/fraud.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/>
              <a:t>Notification System:</a:t>
            </a:r>
            <a:r>
              <a:rPr lang="en-GB" sz="2400"/>
              <a:t> Reaches users via </a:t>
            </a:r>
            <a:r>
              <a:rPr lang="en-GB" sz="2400" b="1"/>
              <a:t>WhatsApp Business API</a:t>
            </a:r>
            <a:r>
              <a:rPr lang="en-GB" sz="2400"/>
              <a:t> and SMS for low-smartphone-usage areas.</a:t>
            </a:r>
            <a:endParaRPr lang="en-GB" sz="2400" dirty="0"/>
          </a:p>
          <a:p>
            <a:pPr marL="342900" indent="-342900" algn="l">
              <a:buChar char="•"/>
            </a:pPr>
            <a:r>
              <a:rPr lang="en-GB" sz="2400" b="1"/>
              <a:t>Admin/Govt Portal:</a:t>
            </a:r>
            <a:r>
              <a:rPr lang="en-GB" sz="2400"/>
              <a:t> Connects shopkeeper data (with consent) to government scheme databases and lending partners via the </a:t>
            </a:r>
            <a:r>
              <a:rPr lang="en-GB" sz="2400" b="1"/>
              <a:t>Account Aggregator framework</a:t>
            </a:r>
            <a:r>
              <a:rPr lang="en-GB" sz="2400"/>
              <a:t>.</a:t>
            </a:r>
            <a:endParaRPr lang="en-GB" sz="2400" dirty="0"/>
          </a:p>
          <a:p>
            <a:pPr algn="l"/>
            <a:endParaRPr lang="en-GB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906000"/>
            <a:ext cx="18288000" cy="381000"/>
          </a:xfrm>
          <a:custGeom>
            <a:avLst/>
            <a:gdLst/>
            <a:ahLst/>
            <a:cxnLst/>
            <a:rect l="l" t="t" r="r" b="b"/>
            <a:pathLst>
              <a:path w="18288000" h="381000">
                <a:moveTo>
                  <a:pt x="18288000" y="0"/>
                </a:moveTo>
                <a:lnTo>
                  <a:pt x="0" y="0"/>
                </a:lnTo>
                <a:lnTo>
                  <a:pt x="0" y="381000"/>
                </a:lnTo>
                <a:lnTo>
                  <a:pt x="18288000" y="381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825" y="1853247"/>
            <a:ext cx="7123430" cy="508473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spc="-30" dirty="0"/>
              <a:t>Technologies</a:t>
            </a:r>
            <a:r>
              <a:rPr spc="-4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be used</a:t>
            </a:r>
            <a:r>
              <a:rPr spc="-6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solution:</a:t>
            </a:r>
            <a:endParaRPr lang="en-US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61925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A6781F-C292-059A-F665-F4D50E304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992433"/>
              </p:ext>
            </p:extLst>
          </p:nvPr>
        </p:nvGraphicFramePr>
        <p:xfrm>
          <a:off x="3548742" y="2481942"/>
          <a:ext cx="11756175" cy="700797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18725">
                  <a:extLst>
                    <a:ext uri="{9D8B030D-6E8A-4147-A177-3AD203B41FA5}">
                      <a16:colId xmlns:a16="http://schemas.microsoft.com/office/drawing/2014/main" val="2520989352"/>
                    </a:ext>
                  </a:extLst>
                </a:gridCol>
                <a:gridCol w="3918725">
                  <a:extLst>
                    <a:ext uri="{9D8B030D-6E8A-4147-A177-3AD203B41FA5}">
                      <a16:colId xmlns:a16="http://schemas.microsoft.com/office/drawing/2014/main" val="3070566588"/>
                    </a:ext>
                  </a:extLst>
                </a:gridCol>
                <a:gridCol w="3918725">
                  <a:extLst>
                    <a:ext uri="{9D8B030D-6E8A-4147-A177-3AD203B41FA5}">
                      <a16:colId xmlns:a16="http://schemas.microsoft.com/office/drawing/2014/main" val="1055879527"/>
                    </a:ext>
                  </a:extLst>
                </a:gridCol>
              </a:tblGrid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Layer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Technology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Why Chosen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614059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Frontend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React Native / Flutter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Cross-platform, fast &amp; lightweight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1998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Backend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Node.js (Express)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Scalable REST APIs &amp; microservices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792899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Database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PostgreSQL + Redis + SQLite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Reliable, fast &amp; offline support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193096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Authentication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Aadhaar e-KYC + Firebase Auth + OTP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Secure user verification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14606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Cloud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AWS / Azure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Scalable cloud infrastructure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002114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AI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Bhashini API + Whisper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Multilingual voice recognition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843738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Machine Learning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TensorFlow / Scikit-learn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AI </a:t>
                      </a:r>
                      <a:r>
                        <a:rPr lang="en-GB" sz="2000" dirty="0" err="1"/>
                        <a:t>Vyapar</a:t>
                      </a:r>
                      <a:r>
                        <a:rPr lang="en-GB" sz="2000" dirty="0"/>
                        <a:t> Score &amp; predictions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976018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Payment API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NPCI UPI + </a:t>
                      </a:r>
                      <a:r>
                        <a:rPr lang="en-GB" sz="2000" dirty="0" err="1"/>
                        <a:t>Razorpay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Secure digital payments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670935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Maps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Google Maps API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Shop location &amp; nearby services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90206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Notifications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Firebase Cloud Messaging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Instant alerts &amp; reminders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299641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Analytics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Firebase Analytics / </a:t>
                      </a:r>
                      <a:r>
                        <a:rPr lang="en-GB" sz="2000" dirty="0" err="1"/>
                        <a:t>Mixpanel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User &amp; business insights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781724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Deployment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Docker + Kubernetes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Easy deployment &amp; scalability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034270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Security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OAuth 2.0 + End-to-End Encryption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Data privacy &amp; protection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119216"/>
                  </a:ext>
                </a:extLst>
              </a:tr>
              <a:tr h="759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Version Control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Git + GitHub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Team collaboration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289456"/>
                  </a:ext>
                </a:extLst>
              </a:tr>
              <a:tr h="37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Testing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Jest + Postman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API &amp; application testing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2502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98283"/>
            <a:ext cx="18288000" cy="6887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6627" y="3410777"/>
            <a:ext cx="4331368" cy="515989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34254"/>
            <a:ext cx="3445510" cy="4766945"/>
            <a:chOff x="0" y="3334254"/>
            <a:chExt cx="3445510" cy="476694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334254"/>
              <a:ext cx="3445407" cy="4536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066" y="5695563"/>
              <a:ext cx="2657885" cy="885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75" y="6591987"/>
              <a:ext cx="1946927" cy="150861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0238" y="502870"/>
            <a:ext cx="4484497" cy="229571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3573810" y="0"/>
            <a:ext cx="4714240" cy="3728085"/>
            <a:chOff x="13573810" y="0"/>
            <a:chExt cx="4714240" cy="372808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73810" y="1749116"/>
              <a:ext cx="4714189" cy="19786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230082" y="0"/>
              <a:ext cx="4057916" cy="197868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7205" y="601257"/>
            <a:ext cx="623454" cy="7433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2984431"/>
            <a:ext cx="885961" cy="9401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56306" y="6591986"/>
            <a:ext cx="12567531" cy="161793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700401" y="6078183"/>
            <a:ext cx="1170344" cy="63405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96474" y="586735"/>
            <a:ext cx="1656714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-345" dirty="0">
                <a:solidFill>
                  <a:srgbClr val="111111"/>
                </a:solidFill>
                <a:latin typeface="Arial Black"/>
                <a:cs typeface="Arial Black"/>
              </a:rPr>
              <a:t>FRONTEND</a:t>
            </a:r>
            <a:endParaRPr sz="25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25227" y="589165"/>
            <a:ext cx="2887345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455" dirty="0">
                <a:solidFill>
                  <a:srgbClr val="00183D"/>
                </a:solidFill>
                <a:latin typeface="Arial Black"/>
                <a:cs typeface="Arial Black"/>
              </a:rPr>
              <a:t>PROJECT</a:t>
            </a:r>
            <a:endParaRPr sz="490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55364" y="1015512"/>
            <a:ext cx="2860040" cy="110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50" spc="-10" dirty="0">
                <a:solidFill>
                  <a:srgbClr val="ED5D01"/>
                </a:solidFill>
                <a:latin typeface="Arial MT"/>
                <a:cs typeface="Arial MT"/>
              </a:rPr>
              <a:t>VIKSIT</a:t>
            </a:r>
            <a:endParaRPr sz="70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49284" y="1750992"/>
            <a:ext cx="3322954" cy="9004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700" spc="-980" dirty="0">
                <a:solidFill>
                  <a:srgbClr val="0A642B"/>
                </a:solidFill>
                <a:latin typeface="Arial Black"/>
                <a:cs typeface="Arial Black"/>
              </a:rPr>
              <a:t>BHARAT</a:t>
            </a:r>
            <a:r>
              <a:rPr sz="5700" spc="-665" dirty="0">
                <a:solidFill>
                  <a:srgbClr val="0A642B"/>
                </a:solidFill>
                <a:latin typeface="Arial Black"/>
                <a:cs typeface="Arial Black"/>
              </a:rPr>
              <a:t> </a:t>
            </a:r>
            <a:r>
              <a:rPr sz="5700" spc="-1295" dirty="0">
                <a:solidFill>
                  <a:srgbClr val="071638"/>
                </a:solidFill>
                <a:latin typeface="Arial Black"/>
                <a:cs typeface="Arial Black"/>
              </a:rPr>
              <a:t>Bi</a:t>
            </a:r>
            <a:endParaRPr sz="57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84632" y="2982055"/>
            <a:ext cx="3308350" cy="262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latin typeface="Arial MT"/>
                <a:cs typeface="Arial MT"/>
              </a:rPr>
              <a:t>Innovate</a:t>
            </a:r>
            <a:r>
              <a:rPr sz="1550" spc="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for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lndio.</a:t>
            </a:r>
            <a:r>
              <a:rPr sz="1550" spc="-10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Build</a:t>
            </a:r>
            <a:r>
              <a:rPr sz="1550" spc="-60" dirty="0"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50505"/>
                </a:solidFill>
                <a:latin typeface="Arial MT"/>
                <a:cs typeface="Arial MT"/>
              </a:rPr>
              <a:t>for</a:t>
            </a:r>
            <a:r>
              <a:rPr sz="1550" spc="-7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latin typeface="Arial MT"/>
                <a:cs typeface="Arial MT"/>
              </a:rPr>
              <a:t>Tomorrow.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1073" y="727487"/>
            <a:ext cx="1627505" cy="379158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240"/>
              </a:spcBef>
            </a:pPr>
            <a:r>
              <a:rPr sz="2500" spc="-405" dirty="0">
                <a:solidFill>
                  <a:srgbClr val="050F33"/>
                </a:solidFill>
                <a:latin typeface="Arial Black"/>
                <a:cs typeface="Arial Black"/>
              </a:rPr>
              <a:t>ARENA</a:t>
            </a:r>
            <a:endParaRPr sz="2500">
              <a:latin typeface="Arial Black"/>
              <a:cs typeface="Arial Black"/>
            </a:endParaRPr>
          </a:p>
          <a:p>
            <a:pPr marL="554355">
              <a:lnSpc>
                <a:spcPct val="100000"/>
              </a:lnSpc>
              <a:spcBef>
                <a:spcPts val="680"/>
              </a:spcBef>
            </a:pPr>
            <a:r>
              <a:rPr sz="1400" spc="-130" dirty="0">
                <a:latin typeface="Arial MT"/>
                <a:cs typeface="Arial MT"/>
              </a:rPr>
              <a:t>P</a:t>
            </a:r>
            <a:r>
              <a:rPr sz="1400" spc="-180" dirty="0">
                <a:latin typeface="Arial MT"/>
                <a:cs typeface="Arial MT"/>
              </a:rPr>
              <a:t> </a:t>
            </a:r>
            <a:r>
              <a:rPr sz="1400" spc="-150" dirty="0">
                <a:solidFill>
                  <a:srgbClr val="9AA1B8"/>
                </a:solidFill>
                <a:latin typeface="Arial MT"/>
                <a:cs typeface="Arial MT"/>
              </a:rPr>
              <a:t>R</a:t>
            </a:r>
            <a:r>
              <a:rPr sz="1400" spc="-225" dirty="0">
                <a:solidFill>
                  <a:srgbClr val="9AA1B8"/>
                </a:solidFill>
                <a:latin typeface="Arial MT"/>
                <a:cs typeface="Arial MT"/>
              </a:rPr>
              <a:t> </a:t>
            </a:r>
            <a:r>
              <a:rPr sz="1400" spc="-110" dirty="0">
                <a:solidFill>
                  <a:srgbClr val="0C0C0C"/>
                </a:solidFill>
                <a:latin typeface="Arial MT"/>
                <a:cs typeface="Arial MT"/>
              </a:rPr>
              <a:t>E</a:t>
            </a:r>
            <a:r>
              <a:rPr sz="1400" spc="-14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050505"/>
                </a:solidFill>
                <a:latin typeface="Arial MT"/>
                <a:cs typeface="Arial MT"/>
              </a:rPr>
              <a:t>0</a:t>
            </a:r>
            <a:r>
              <a:rPr sz="1400" spc="-20" dirty="0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sz="1400" spc="-110" dirty="0">
                <a:solidFill>
                  <a:srgbClr val="0F0F0F"/>
                </a:solidFill>
                <a:latin typeface="Arial MT"/>
                <a:cs typeface="Arial MT"/>
              </a:rPr>
              <a:t>E</a:t>
            </a:r>
            <a:r>
              <a:rPr sz="1400" spc="-18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161616"/>
                </a:solidFill>
                <a:latin typeface="Arial MT"/>
                <a:cs typeface="Arial MT"/>
              </a:rPr>
              <a:t>N</a:t>
            </a:r>
            <a:r>
              <a:rPr sz="1400" spc="-16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10316"/>
                </a:solidFill>
                <a:latin typeface="Arial MT"/>
                <a:cs typeface="Arial MT"/>
              </a:rPr>
              <a:t>T</a:t>
            </a:r>
            <a:r>
              <a:rPr sz="1400" spc="-25" dirty="0">
                <a:solidFill>
                  <a:srgbClr val="1D1D1D"/>
                </a:solidFill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850" spc="-5475" dirty="0">
                <a:latin typeface="Arial Black"/>
                <a:cs typeface="Arial Black"/>
              </a:rPr>
              <a:t>:.%...</a:t>
            </a:r>
            <a:endParaRPr sz="1685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58325" y="3131459"/>
            <a:ext cx="11263630" cy="2667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7300" spc="-4160" dirty="0">
                <a:solidFill>
                  <a:srgbClr val="01113B"/>
                </a:solidFill>
                <a:latin typeface="Arial Black"/>
                <a:cs typeface="Arial Black"/>
              </a:rPr>
              <a:t>THANK</a:t>
            </a:r>
            <a:r>
              <a:rPr sz="17300" spc="-785" dirty="0">
                <a:solidFill>
                  <a:srgbClr val="01113B"/>
                </a:solidFill>
                <a:latin typeface="Arial Black"/>
                <a:cs typeface="Arial Black"/>
              </a:rPr>
              <a:t> </a:t>
            </a:r>
            <a:r>
              <a:rPr sz="17300" spc="-3240" dirty="0">
                <a:solidFill>
                  <a:srgbClr val="F96E01"/>
                </a:solidFill>
                <a:latin typeface="Arial Black"/>
                <a:cs typeface="Arial Black"/>
              </a:rPr>
              <a:t>YOU</a:t>
            </a:r>
            <a:r>
              <a:rPr sz="17300" spc="-8705" dirty="0">
                <a:solidFill>
                  <a:srgbClr val="F96E01"/>
                </a:solidFill>
                <a:latin typeface="Arial Black"/>
                <a:cs typeface="Arial Black"/>
              </a:rPr>
              <a:t>.</a:t>
            </a:r>
            <a:r>
              <a:rPr sz="25275" spc="-4845" baseline="12693" dirty="0">
                <a:solidFill>
                  <a:srgbClr val="016431"/>
                </a:solidFill>
                <a:latin typeface="Arial Black"/>
                <a:cs typeface="Arial Black"/>
              </a:rPr>
              <a:t>i</a:t>
            </a:r>
            <a:endParaRPr sz="25275" baseline="12693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9193" y="6196667"/>
            <a:ext cx="168084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1205" algn="l"/>
              </a:tabLst>
            </a:pPr>
            <a:r>
              <a:rPr sz="2150" spc="-400" dirty="0">
                <a:latin typeface="Consolas"/>
                <a:cs typeface="Consolas"/>
              </a:rPr>
              <a:t>FOR</a:t>
            </a:r>
            <a:r>
              <a:rPr sz="2150" dirty="0">
                <a:latin typeface="Consolas"/>
                <a:cs typeface="Consolas"/>
              </a:rPr>
              <a:t>	</a:t>
            </a:r>
            <a:r>
              <a:rPr sz="2150" spc="229" dirty="0">
                <a:latin typeface="Consolas"/>
                <a:cs typeface="Consolas"/>
              </a:rPr>
              <a:t>BEING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29962" y="6196667"/>
            <a:ext cx="160274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0E1334"/>
                </a:solidFill>
                <a:latin typeface="Consolas"/>
                <a:cs typeface="Consolas"/>
              </a:rPr>
              <a:t>A</a:t>
            </a:r>
            <a:r>
              <a:rPr sz="2150" spc="130" dirty="0">
                <a:solidFill>
                  <a:srgbClr val="0E1334"/>
                </a:solidFill>
                <a:latin typeface="Consolas"/>
                <a:cs typeface="Consolas"/>
              </a:rPr>
              <a:t> </a:t>
            </a:r>
            <a:r>
              <a:rPr sz="2150" spc="254" dirty="0">
                <a:latin typeface="Consolas"/>
                <a:cs typeface="Consolas"/>
              </a:rPr>
              <a:t>PART</a:t>
            </a:r>
            <a:r>
              <a:rPr sz="2150" spc="5" dirty="0">
                <a:latin typeface="Consolas"/>
                <a:cs typeface="Consolas"/>
              </a:rPr>
              <a:t> </a:t>
            </a:r>
            <a:r>
              <a:rPr sz="2150" spc="229" dirty="0">
                <a:solidFill>
                  <a:srgbClr val="070707"/>
                </a:solidFill>
                <a:latin typeface="Consolas"/>
                <a:cs typeface="Consolas"/>
              </a:rPr>
              <a:t>OF</a:t>
            </a:r>
            <a:endParaRPr sz="2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670</Words>
  <Application>Microsoft Office PowerPoint</Application>
  <PresentationFormat>Custom</PresentationFormat>
  <Paragraphs>112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Black</vt:lpstr>
      <vt:lpstr>Arial MT</vt:lpstr>
      <vt:lpstr>Bahnschrift Condensed</vt:lpstr>
      <vt:lpstr>Calibri</vt:lpstr>
      <vt:lpstr>Consolas</vt:lpstr>
      <vt:lpstr>Office Theme</vt:lpstr>
      <vt:lpstr>PowerPoint Presentation</vt:lpstr>
      <vt:lpstr>Team Members</vt:lpstr>
      <vt:lpstr>Opportunity :  Current Problem : Rural shopkeepers want digital tools but find existing solutions complex and difficult to use. Target Users : Kirana stores, street vendors, tea stalls, and small businesses in rural &amp; Tier 2/3/4 areas. Pain Points : Limited digital payment adoption  Poor income &amp; expense tracking  Manual inventory management  Limited access to loans  Low financial literacy  Why Existing Solutions Fail : Complex interfaces  Weak offline support  No AI-based financial guidance  No credit-building for small businesses  Market Opportunity : 63M+ MSMEs in India need simple AI-powered financial solutions. Expected Impact : Digital adoption • Better financial management • Easy credit access • Business growth Government Relevance : Supports Digital India, Startup India, Financial Inclusion, and Viksit Bharat 2047.  </vt:lpstr>
      <vt:lpstr>List of features offered by the solution:   1.  Voice-Based Ledger – Record transactions using voice in local language.  2.  Smart UPI QR Payments – Accept instant digital payments with QR codes.  3.  AI Vyapar Score – AI-generated business credit score for loan eligibility.  4.  Expense &amp; Profit Tracker – Automatically track income, expenses, and profits.  5.  Inventory Management – Smart stock tracking with low-stock alerts.  6.  Offline Mode – Works without internet and syncs automatically.  7.  Business Dashboard – Easy-to-understand reports and business insights.  8.  Loan &amp; Insurance Support – Personalized loan, insurance, and government scheme  </vt:lpstr>
      <vt:lpstr>Process flow diagram or Use-case diagram:  </vt:lpstr>
      <vt:lpstr>PowerPoint Presentation</vt:lpstr>
      <vt:lpstr>Architecture diagram of the proposed solution </vt:lpstr>
      <vt:lpstr>Technologies to be used in the solution: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akshay250906@outlook.com</cp:lastModifiedBy>
  <cp:revision>244</cp:revision>
  <dcterms:created xsi:type="dcterms:W3CDTF">2026-07-29T15:03:21Z</dcterms:created>
  <dcterms:modified xsi:type="dcterms:W3CDTF">2026-07-29T18:11:06Z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2026-07-29T00:00:00Z</vt:filetime>
  </property>
  <property fmtid="{D5CDD505-2E9C-101B-9397-08002B2CF9AE}" pid="4" name="LastSaved">
    <vt:filetime>2026-07-29T00:00:00Z</vt:filetime>
  </property>
</Properties>
</file>