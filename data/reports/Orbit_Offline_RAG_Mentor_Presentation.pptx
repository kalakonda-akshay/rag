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🧠 ORBIT PLATFORM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Offline Multimodal Knowledge Engine &amp; AI Assistant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Complete Architecture, Algorithms, Technical Stack &amp; Implementation Guide</a:t>
            </a:r>
          </a:p>
          <a:p>
            <a:pPr>
              <a:spcBef>
                <a:spcPts val="2500"/>
              </a:spcBef>
              <a:defRPr sz="1200" b="1">
                <a:solidFill>
                  <a:srgbClr val="34D399"/>
                </a:solidFill>
              </a:defRPr>
            </a:pPr>
            <a:r>
              <a:t>Prepared for Mentor Review &amp; Final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1. Executive Summary: Problem Statement &amp;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⚠️ The Cloud AI Privacy Problem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Data Leakage Risk: </a:t>
            </a:r>
            <a:r>
              <a:rPr sz="1100">
                <a:solidFill>
                  <a:srgbClr val="9CA3AF"/>
                </a:solidFill>
              </a:rPr>
              <a:t>Sending corporate contracts, financial data, or patient records to third-party cloud APIs poses extreme compliance risks (GDPR, HIPAA).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Recurring API Costs: </a:t>
            </a:r>
            <a:r>
              <a:rPr sz="1100">
                <a:solidFill>
                  <a:srgbClr val="9CA3AF"/>
                </a:solidFill>
              </a:rPr>
              <a:t>Pay-per-token pricing models scale unpredictably for large document processing.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Cloud Dependency: </a:t>
            </a:r>
            <a:r>
              <a:rPr sz="1100">
                <a:solidFill>
                  <a:srgbClr val="9CA3AF"/>
                </a:solidFill>
              </a:rPr>
              <a:t>Requires steady internet connection; unavailable in air-gapped or remote deployment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💡 The Orbit Solution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100% Air-Gapped Operation: </a:t>
            </a:r>
            <a:r>
              <a:rPr sz="1100">
                <a:solidFill>
                  <a:srgbClr val="9CA3AF"/>
                </a:solidFill>
              </a:rPr>
              <a:t>Runs entirely on local hardware with zero external network transmission.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Multimodal Format Ingestion: </a:t>
            </a:r>
            <a:r>
              <a:rPr sz="1100">
                <a:solidFill>
                  <a:srgbClr val="9CA3AF"/>
                </a:solidFill>
              </a:rPr>
              <a:t>Native support for PDF, Word, PPTX, Excel/CSV, Images, Audio, Video, HTML, and SQLite.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Sub-Second Local Retrieval: </a:t>
            </a:r>
            <a:r>
              <a:rPr sz="1100">
                <a:solidFill>
                  <a:srgbClr val="9CA3AF"/>
                </a:solidFill>
              </a:rPr>
              <a:t>Hybrid BM25 + Dense vector search delivering instant citations.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FFFFF"/>
                </a:solidFill>
              </a:rPr>
              <a:t>Zero Operating Cost: </a:t>
            </a:r>
            <a:r>
              <a:rPr sz="1100">
                <a:solidFill>
                  <a:srgbClr val="9CA3AF"/>
                </a:solidFill>
              </a:rPr>
              <a:t>Uses local open-source LLMs (llama3.2:3b, nomic-embed-text) with zero API charges.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2. System Architecture: 3-Column Orbit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Column 1: AppSidebar</a:t>
            </a:r>
          </a:p>
          <a:p>
            <a:pPr>
              <a:defRPr sz="1100">
                <a:solidFill>
                  <a:srgbClr val="A855F7"/>
                </a:solidFill>
              </a:defRPr>
            </a:pPr>
            <a:r>
              <a:t>Navigation &amp; Controls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User Profile Header (Template User)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AI Persona Switcher (5 Roles)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Local LLM Model Dropdown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Agentic &amp; Self-RAG Toggles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Multimodal File Drag-and-Drop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Auto-Clear Upload Checkbox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Hardware CPU &amp; RAM 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Column 2: Inbox Pane</a:t>
            </a:r>
          </a:p>
          <a:p>
            <a:pPr>
              <a:defRPr sz="1100">
                <a:solidFill>
                  <a:srgbClr val="A855F7"/>
                </a:solidFill>
              </a:defRPr>
            </a:pPr>
            <a:r>
              <a:t>Q&amp;A &amp; Knowledge List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Live Search Bar for Conversations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Auto-Labeling Status Indicator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Color-Coded File Extension Badges (PDF, Excel, Media, PPTX)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Indexed Document Cards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Date-Stamped Q&amp;A History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Column 3: Workspace</a:t>
            </a:r>
          </a:p>
          <a:p>
            <a:pPr>
              <a:defRPr sz="1100">
                <a:solidFill>
                  <a:srgbClr val="A855F7"/>
                </a:solidFill>
              </a:defRPr>
            </a:pPr>
            <a:r>
              <a:t>Q&amp;A &amp; 12 Tool Tabs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Orbit Platform Gradient Header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Document Focus Search Filter (🎯)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Chat Workspace with Citations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Voice Call Mode (STT/TTS)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12 Interactive Feature Tabs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Speed Badge (⚡ 0.85s response)</a:t>
            </a:r>
          </a:p>
          <a:p>
            <a:pPr>
              <a:spcBef>
                <a:spcPts val="600"/>
              </a:spcBef>
              <a:defRPr sz="1000">
                <a:solidFill>
                  <a:srgbClr val="9CA3AF"/>
                </a:solidFill>
              </a:defRPr>
            </a:pPr>
            <a:r>
              <a:t>• Read Aloud Speech Synthesizer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3. Multimodal Ingestion &amp; Processing Pipeline (15+ Formats)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PDF &amp; Office Docs  —  </a:t>
            </a:r>
            <a:r>
              <a:rPr sz="1100" b="1">
                <a:solidFill>
                  <a:srgbClr val="A855F7"/>
                </a:solidFill>
              </a:rPr>
              <a:t>Tech: PyMuPDF (fitz) + python-docx + python-pptx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Extracts structured text, headers, slides, speaker notes, and shape text. Automatic Tesseract OCR fallback for scanned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Spreadsheet Data  —  </a:t>
            </a:r>
            <a:r>
              <a:rPr sz="1100" b="1">
                <a:solidFill>
                  <a:srgbClr val="A855F7"/>
                </a:solidFill>
              </a:rPr>
              <a:t>Tech: pandas + openpyxl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Converts Excel (.xlsx/.xls) and CSV sheets into Markdown tables to preserve row-column relationships for accurate table 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Image Intelligence  —  </a:t>
            </a:r>
            <a:r>
              <a:rPr sz="1100" b="1">
                <a:solidFill>
                  <a:srgbClr val="A855F7"/>
                </a:solidFill>
              </a:rPr>
              <a:t>Tech: Pillow (PIL) + Tesseract OCR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Non-blocking image ingestion extracting text from diagrams, screenshots, and scanned files with fallback chunking.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Audio &amp; Video Transcripts  —  </a:t>
            </a:r>
            <a:r>
              <a:rPr sz="1100" b="1">
                <a:solidFill>
                  <a:srgbClr val="A855F7"/>
                </a:solidFill>
              </a:rPr>
              <a:t>Tech: faster-whisper (CTranslate2) + imageio-ffmpeg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Extracts 16kHz mono audio from video files (.mp4/.mkv) and transcribes audio (.mp3/.wav) 4x faster than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Web Archiver &amp; SQL DBs  —  </a:t>
            </a:r>
            <a:r>
              <a:rPr sz="1100" b="1">
                <a:solidFill>
                  <a:srgbClr val="A855F7"/>
                </a:solidFill>
              </a:rPr>
              <a:t>Tech: bs4 + requests + sqlite3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Crawls external webpage URLs into offline text, and registers SQLite database schemas for natural language SQL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4. Advanced RAG Architecture: Retrieval to Citation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71323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Step 1: Agentic Query Decomposition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Splits complex multi-part user questions into focused sub-queries using LLM DAG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71323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Step 2: Dense &amp; Sparse Candidate Search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Retrieves top candidates via 768-dim Dense Vector Cosine Similarity and Sparse BM25 Keyword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698480" cy="71323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Step 3: Reciprocal Rank Fusion (RRF)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Merges and reranks vector and keyword search ranks using RRF = 1 / (60 + r_vec) + 1 / (60 + r_bm25).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10698480" cy="71323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Step 4: Persona Prompt &amp; Context Synthesis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Combines top chunks, chat memory, and selected AI persona instructions into a grounded context window.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698480" cy="71323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Step 5: Self-RAG Critic Verification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A Critic Agent evaluates generated answer against context chunks to eliminate hallucinations before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698480" cy="71323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5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Step 6: Citation &amp; GraphRAG Rendering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Displays response with bracketed source badges ([1] doc.pdf · p.2) and extracted entity triples.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5. Complete Technology Stack &amp;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Streamlit 1.39+  </a:t>
            </a:r>
            <a:r>
              <a:rPr sz="1000">
                <a:solidFill>
                  <a:srgbClr val="A855F7"/>
                </a:solidFill>
              </a:rPr>
              <a:t>(Frontend Framework)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Fast reactive UI with custom CSS injection for 3-column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Ollama (llama3.2:3b)  </a:t>
            </a:r>
            <a:r>
              <a:rPr sz="1000">
                <a:solidFill>
                  <a:srgbClr val="A855F7"/>
                </a:solidFill>
              </a:rPr>
              <a:t>(Local LLM Inference Engine)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Sub-second 3B parameter local LLM execution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Ollama (nomic-embed-text)  </a:t>
            </a:r>
            <a:r>
              <a:rPr sz="1000">
                <a:solidFill>
                  <a:srgbClr val="A855F7"/>
                </a:solidFill>
              </a:rPr>
              <a:t>(Dense Vector Embedder)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768-dimensional dense vector embeddings for technical retrieval.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5176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69748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ChromaDB Persistent Client  </a:t>
            </a:r>
            <a:r>
              <a:rPr sz="1000">
                <a:solidFill>
                  <a:srgbClr val="A855F7"/>
                </a:solidFill>
              </a:rPr>
              <a:t>(Local Vector Store)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Zero-server, SQLite-backed HNSW vector index on local disk.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Rank-BM25 (BM25Okapi)  </a:t>
            </a:r>
            <a:r>
              <a:rPr sz="1000">
                <a:solidFill>
                  <a:srgbClr val="A855F7"/>
                </a:solidFill>
              </a:rPr>
              <a:t>(Sparse Keyword Search)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Exact keyword matching for technical terms, part numbers, and acronyms.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88620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PyMuPDF &amp; Tesseract  </a:t>
            </a:r>
            <a:r>
              <a:rPr sz="1000">
                <a:solidFill>
                  <a:srgbClr val="A855F7"/>
                </a:solidFill>
              </a:rPr>
              <a:t>(PDF &amp; OCR Processing)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High-speed C-backed PDF text extraction with OCR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faster-whisper (CTranslate2)  </a:t>
            </a:r>
            <a:r>
              <a:rPr sz="1000">
                <a:solidFill>
                  <a:srgbClr val="A855F7"/>
                </a:solidFill>
              </a:rPr>
              <a:t>(Audio Speech Transcription)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Int8-quantized C++ Whisper engine running 4x faster than real-time.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029200"/>
            <a:ext cx="52120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5074920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PyInstaller 6.22  </a:t>
            </a:r>
            <a:r>
              <a:rPr sz="1000">
                <a:solidFill>
                  <a:srgbClr val="A855F7"/>
                </a:solidFill>
              </a:rPr>
              <a:t>(Standalone Executable)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Bundles Python runtime and DLLs into a single 1-click executable.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6. Core Algorithms &amp; Mathematical Formulations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1. Reciprocal Rank Fusion (RRF)  —  </a:t>
            </a:r>
            <a:r>
              <a:rPr sz="1150" b="1">
                <a:solidFill>
                  <a:srgbClr val="34D399"/>
                </a:solidFill>
              </a:rPr>
              <a:t>RRF_Score(d) = Σ [ 1 / (60 + r_m(d)) ]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Combines sparse BM25 ranks and dense vector similarity ranks into a single score without requiring score normalization across different scoring scales.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2. Okapi BM25 Keyword Scoring  —  </a:t>
            </a:r>
            <a:r>
              <a:rPr sz="1150" b="1">
                <a:solidFill>
                  <a:srgbClr val="34D399"/>
                </a:solidFill>
              </a:rPr>
              <a:t>Score(D,Q) = Σ IDF(q_i) * [ f(q_i,D)*(k1+1) ] / [ f(q_i,D) + k1*(1 - b + b*(|D|/avgdl)) ]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Calculates term frequency saturation (k1=1.5) and document length normalization (b=0.75) for precise keyword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3. Dense Vector Cosine Similarity  —  </a:t>
            </a:r>
            <a:r>
              <a:rPr sz="1150" b="1">
                <a:solidFill>
                  <a:srgbClr val="34D399"/>
                </a:solidFill>
              </a:rPr>
              <a:t>Cosine_Similarity(A,B) = (A • B) / (||A|| * ||B||)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Measures the geometric angle between 768-dimensional query and document vectors to capture semantic meaning regardless of length.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4. Overlapping Window Chunking  —  </a:t>
            </a:r>
            <a:r>
              <a:rPr sz="1150" b="1">
                <a:solidFill>
                  <a:srgbClr val="34D399"/>
                </a:solidFill>
              </a:rPr>
              <a:t>Window Size = 300 words | Overlap = 50 words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Sliding window algorithm splitting documents into chunks while preserving contextual boundaries across sentence edges.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7. AI Personas &amp; Role Adaptation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💬 General Assistant  </a:t>
            </a:r>
            <a:r>
              <a:rPr sz="1100">
                <a:solidFill>
                  <a:srgbClr val="A855F7"/>
                </a:solidFill>
              </a:rPr>
              <a:t>[Default Everyday Role]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Balanced, concise, direct answers with standard citation markers for general document reading.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🛠️ Technical Auditor  </a:t>
            </a:r>
            <a:r>
              <a:rPr sz="1100">
                <a:solidFill>
                  <a:srgbClr val="A855F7"/>
                </a:solidFill>
              </a:rPr>
              <a:t>[Engineering &amp; Code Focus]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Analyzes code logic, system architecture, API schemas, security risks, and performance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📊 Financial Analyst  </a:t>
            </a:r>
            <a:r>
              <a:rPr sz="1100">
                <a:solidFill>
                  <a:srgbClr val="A855F7"/>
                </a:solidFill>
              </a:rPr>
              <a:t>[Numbers &amp; Margins Focus]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Focuses on revenue trends, EBITDA margins, balance sheets, and metrics formatted in Markdown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⚖️ Legal Counsel  </a:t>
            </a:r>
            <a:r>
              <a:rPr sz="1100">
                <a:solidFill>
                  <a:srgbClr val="A855F7"/>
                </a:solidFill>
              </a:rPr>
              <a:t>[Contracts &amp; Compliance Focus]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Inspects contractual obligations, indemnification clauses, liability terms, and compliance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🔬 Research Scientist  </a:t>
            </a:r>
            <a:r>
              <a:rPr sz="1100">
                <a:solidFill>
                  <a:srgbClr val="A855F7"/>
                </a:solidFill>
              </a:rPr>
              <a:t>[Academic &amp; Empirical Focus]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Evaluates research methodologies, experimental findings, statistical evidence, and dataset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8. Interactive Features &amp; 12 Workspace Tabs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💬 Chat Workspace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Multi-turn RAG chat stream with citations, GraphRAG triples, speed metrics, and Read Aloud TTS.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0876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🎙️ Voice Call Mode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Microphone audio input (st.audio_input), Whisper transcription, LLM generation, and auto-speech playback.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0876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🌐 Web Archiver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Crawls external website URLs into clean offline text and indexes them into ChromaDB.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🗺️ Mind Map Generator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Renders hierarchical Mermaid.js visual mind maps of document collection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5176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69748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🧩 Topic Clusters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Automatically groups document chunks into semantic topic clusters with descriptions.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65176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69748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🌐 Offline Translator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Translates answers and summaries into 8+ languages using local LLM prompting.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⚔️ Model Battle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Runs two local models (Model A vs Model B) side-by-side on the same prompt for output comparison.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84048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88620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🎓 Quiz Generator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Generates interactive multiple-choice quiz questions based on document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84048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88620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🗄️ SQL DB Engine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Translates natural language questions to SQLite SQL queries and executes interactive dataframes.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🛡️ PII &amp; PDF Tools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Scrubs PII (emails, phone numbers, SSNs) and merges PDF files offline.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02920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507492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🔍 Document Inspector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Inspects raw chunk metadata, page numbers, and vector embeddings.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5029200"/>
            <a:ext cx="3474720" cy="1078992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074920"/>
            <a:ext cx="3291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📄 Document Compare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Compares clauses and text side-by-side between any two uploaded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9. Automated System Verification &amp; Audit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🎯 Full Test Harness Score: 15 / 15 PASSED (100% SUCCESS)</a:t>
            </a:r>
          </a:p>
          <a:p>
            <a:pPr>
              <a:spcBef>
                <a:spcPts val="800"/>
              </a:spcBef>
              <a:defRPr sz="1200">
                <a:solidFill>
                  <a:srgbClr val="F3F4F6"/>
                </a:solidFill>
              </a:defRPr>
            </a:pPr>
            <a:r>
              <a:t>Automated test harness (test_all_features.py) verified 100% operational status across all modules: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1. System Monitor (get_system_stats) — PASSED</a:t>
            </a:r>
            <a:r>
              <a:rPr sz="1050">
                <a:solidFill>
                  <a:srgbClr val="9CA3AF"/>
                </a:solidFill>
              </a:rPr>
              <a:t>  |  2. Personas &amp; Prompt Templates — PASSED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3. PII Redaction Engine — PASSED             </a:t>
            </a:r>
            <a:r>
              <a:rPr sz="1050">
                <a:solidFill>
                  <a:srgbClr val="9CA3AF"/>
                </a:solidFill>
              </a:rPr>
              <a:t>  |  4. Text Parser &amp; Chunker — PASSED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5. Image Parser &amp; OCR — PASSED               </a:t>
            </a:r>
            <a:r>
              <a:rPr sz="1050">
                <a:solidFill>
                  <a:srgbClr val="9CA3AF"/>
                </a:solidFill>
              </a:rPr>
              <a:t>  |  6. Excel &amp; CSV Table Parser — PASSED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7. Hybrid Vector BM25 Store — PASSED         </a:t>
            </a:r>
            <a:r>
              <a:rPr sz="1050">
                <a:solidFill>
                  <a:srgbClr val="9CA3AF"/>
                </a:solidFill>
              </a:rPr>
              <a:t>  |  8. RAG Engine (generate_answer) — PASSED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9. Agentic Multi-Hop &amp; GraphRAG — PASSED     </a:t>
            </a:r>
            <a:r>
              <a:rPr sz="1050">
                <a:solidFill>
                  <a:srgbClr val="9CA3AF"/>
                </a:solidFill>
              </a:rPr>
              <a:t>  |  10. Self-RAG Critic Agent — PASSED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11. TTS Engine (Read Aloud) — PASSED         </a:t>
            </a:r>
            <a:r>
              <a:rPr sz="1050">
                <a:solidFill>
                  <a:srgbClr val="9CA3AF"/>
                </a:solidFill>
              </a:rPr>
              <a:t>  |  12. Mind Map Generator — PASSED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13. Topic Cluster Discovery — PASSED         </a:t>
            </a:r>
            <a:r>
              <a:rPr sz="1050">
                <a:solidFill>
                  <a:srgbClr val="9CA3AF"/>
                </a:solidFill>
              </a:rPr>
              <a:t>  |  14. Session Manager (Save/Load) — PASSED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9CA3AF"/>
                </a:solidFill>
              </a:rPr>
              <a:t>15. Report &amp; PPTX Generator — PASSED  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ORBIT PLATFORM &amp;MIDDOT; SYSTEM PRESENTATION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10. Future Roadmap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🚀 Next-Gen Roadmap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Native Vision LLM Integration: </a:t>
            </a:r>
            <a:r>
              <a:rPr sz="1000">
                <a:solidFill>
                  <a:srgbClr val="9CA3AF"/>
                </a:solidFill>
              </a:rPr>
              <a:t>Incorporate local LLaVA / Llama 3.2-Vision models directly into the binary bundle for visual chart understanding.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Cross-Encoder Re-ranking: </a:t>
            </a:r>
            <a:r>
              <a:rPr sz="1000">
                <a:solidFill>
                  <a:srgbClr val="9CA3AF"/>
                </a:solidFill>
              </a:rPr>
              <a:t>Add bge-reranker-large model for 2-stage retrieval re-ranking.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Sub-300ms WebRTC Voice Mode: </a:t>
            </a:r>
            <a:r>
              <a:rPr sz="1000">
                <a:solidFill>
                  <a:srgbClr val="9CA3AF"/>
                </a:solidFill>
              </a:rPr>
              <a:t>Upgrade STT/TTS to WebRTC streaming for fluid real-time voice conversations.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Native Electron Desktop App: </a:t>
            </a:r>
            <a:r>
              <a:rPr sz="1000">
                <a:solidFill>
                  <a:srgbClr val="9CA3AF"/>
                </a:solidFill>
              </a:rPr>
              <a:t>Package the frontend into an Electron desktop application wrapper.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7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🏁 Conclusion &amp; Ready Deliverables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Live Local Application: </a:t>
            </a:r>
            <a:r>
              <a:rPr sz="1000">
                <a:solidFill>
                  <a:srgbClr val="9CA3AF"/>
                </a:solidFill>
              </a:rPr>
              <a:t>Running on http://localhost:8501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Standalone Executable Bundle: </a:t>
            </a:r>
            <a:r>
              <a:rPr sz="1000">
                <a:solidFill>
                  <a:srgbClr val="9CA3AF"/>
                </a:solidFill>
              </a:rPr>
              <a:t>OfflineRAGAssistant_Setup.zip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Source Code Release Package: </a:t>
            </a:r>
            <a:r>
              <a:rPr sz="1000">
                <a:solidFill>
                  <a:srgbClr val="9CA3AF"/>
                </a:solidFill>
              </a:rPr>
              <a:t>OfflineRAG_v1.0.0.zip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Full PDF Technical Manual: </a:t>
            </a:r>
            <a:r>
              <a:rPr sz="1000">
                <a:solidFill>
                  <a:srgbClr val="9CA3AF"/>
                </a:solidFill>
              </a:rPr>
              <a:t>Orbit_Offline_RAG_Platform_Documentation.pdf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Full Word Documentation: </a:t>
            </a:r>
            <a:r>
              <a:rPr sz="1000">
                <a:solidFill>
                  <a:srgbClr val="9CA3AF"/>
                </a:solidFill>
              </a:rPr>
              <a:t>Orbit_Offline_RAG_Platform_Documentation.docx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Automated Test Score: </a:t>
            </a:r>
            <a:r>
              <a:rPr sz="1000">
                <a:solidFill>
                  <a:srgbClr val="9CA3AF"/>
                </a:solidFill>
              </a:rPr>
              <a:t>15/15 Passed (100% Operational)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